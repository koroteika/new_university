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2" r:id="rId1"/>
    <p:sldMasterId id="2147483703" r:id="rId2"/>
    <p:sldMasterId id="2147483683" r:id="rId3"/>
    <p:sldMasterId id="2147483693" r:id="rId4"/>
    <p:sldMasterId id="2147483713" r:id="rId5"/>
    <p:sldMasterId id="2147483661" r:id="rId6"/>
  </p:sldMasterIdLst>
  <p:notesMasterIdLst>
    <p:notesMasterId r:id="rId22"/>
  </p:notesMasterIdLst>
  <p:sldIdLst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</p:sldIdLst>
  <p:sldSz cx="12192000" cy="6858000"/>
  <p:notesSz cx="6858000" cy="9144000"/>
  <p:embeddedFontLst>
    <p:embeddedFont>
      <p:font typeface="Montserrat" pitchFamily="2" charset="0"/>
      <p:regular r:id="rId23"/>
      <p:bold r:id="rId24"/>
      <p:italic r:id="rId25"/>
      <p:boldItalic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2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47E94-C3BB-4CE6-B39E-CD1E1B829BDF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69706-1913-4C55-8F74-05FCCDC18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73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2615C-51D1-4611-BFBE-EBC4AB77FDBF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6597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B54E3-D4FA-4B86-A831-F1144D4E98BA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1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F90B-C37C-4AC8-AD6F-21504BD51ADC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43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183B3-3E7F-49A8-9A0E-F9A4FFD56B6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20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9F49B-E32B-4F05-9108-90C46229C04E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56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972D-E4EC-4614-B983-E3999B47CA76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3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6DDD-8530-4443-8F9F-19139FB38AB5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98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435E-3554-4401-8E79-CF665E2999F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11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C8F2-28E3-4EE3-9279-7EBEC619901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3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963B-0C12-4E99-94E6-389210859C97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76470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DF773-560F-4296-96D9-3D9F8FA3EB59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22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D551-CB8E-4835-BE5F-4C9FAAB6A30E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49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6B45-6E7B-4701-A751-A5F2BC0A943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21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06E4-AECA-47B6-8A9E-FE7C82B6310F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68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D3B1-8A1D-4EF7-9025-204A608EC2CC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850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A18A-DCD1-4340-9E45-FA8F9FC7C694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5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A30D2-0B34-472C-A39D-EEF9F318DEC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643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1C76-7D3E-4ECB-AAD3-8B91DF218EA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918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0CCC9-8823-42E6-AC04-1BDE1DB2C98A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8D8E887-6788-4EF2-8725-E4E97197F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2F3206E9-58DF-4D91-B0A9-8204642B0A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067007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FA8A6-4AB6-4074-BFAC-3B3512BEF97C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99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267D-5ABD-4FAE-839A-19831CCC216F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217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E7B9B-8592-4E77-B336-16CE192066E0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81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7577-47AE-488C-9A59-F97FE51EFC00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9636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8C7E-7244-41AF-B9CA-C35B8C4B5C82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02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BBF5-2A45-4538-A64A-F3AA35990BE6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809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F6AD-B101-479C-B6C6-699D583C57A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740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5496-7A70-40A0-AC44-A325DBDBC08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374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3A99-E3C9-402B-9BDE-EE75190ED062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2889451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7086-EF7A-45C9-9ED9-FBAFEEFB49F7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2024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86702-BA96-4B5C-A13B-BA928C3641D9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167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8DBF4-2AF6-4CF6-852E-82279C961F5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90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87A47-07D2-444B-A082-D33079CAE77D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638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813-F16C-463A-B798-8D83848483D9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183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E2C31-74C4-449E-9CF0-3F242D3656EA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087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66AD6-3077-4A91-A618-4C7BCC8C61ED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7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9016-2ED6-4D3E-9BEB-7EBD12075C7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668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55947-6B84-43A0-8E1E-C4A7AB5413C1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5585449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DEB2-3051-4E98-AA69-51ED3D42A106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951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10984-64F1-412D-94FD-1588C2CC8A42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851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D1A4-B109-4C3D-B3A0-27725F90544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4174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F1ED3-B5E9-4079-A6F9-70911C5D71AD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825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36D3-F53B-4689-9BF4-600EC5A7733F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61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2D969-6B4C-4652-BC29-58BCAC5254B3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5377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4C4E-AC52-43A8-8188-CD690EB47D22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2290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CD429-7A07-4D2B-82DC-BCF5955F2AB6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4702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9407E-41C3-40ED-85C3-4F4AC310C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D66044-C392-47A5-889F-A4F90FD2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099C-0608-4AD0-B2DD-730725907731}" type="datetime1">
              <a:rPr lang="ru-RU" smtClean="0"/>
              <a:t>29.09.2026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DF13AC-6E1E-4952-A845-6B362839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8ACDA3-E292-470D-9120-E50EBB6B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BC5BAF7-EFF7-4D86-8301-BE8F3D3FEB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993206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43B20-A1B6-44D1-BB04-ED9151FA2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DBDE35-63AF-45E9-A900-BE347A762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8051-9FED-4B9E-8A8B-1A6B21BB0FCA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1086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10C5B-E804-409B-8625-44E8964947FC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0010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BC7F-1ED0-4D22-B834-E15CA2D151B6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8964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5E4A-0077-4223-8055-D603BD05FE0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85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CD3D-BE4B-43D4-8089-864726F9FE58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296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5B6DB-7045-4C3E-84A5-FE52D4052B4B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2499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178D-CE40-4C72-8872-575A24EC03F7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4675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59B-7570-4072-BC05-FCB4F7DA050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1314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6793-A6AE-4D26-8D18-3B32F5B664D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0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F0DDF5A-77B3-45DF-BE43-E6120A7F7488}" type="datetime1">
              <a:rPr lang="ru-RU" smtClean="0"/>
              <a:t>29.09.2026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8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0F812D7-42FD-4211-8AC4-9610162D46AF}" type="datetime1">
              <a:rPr lang="ru-RU" smtClean="0"/>
              <a:t>29.09.2026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7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DDCCAFA2-BC4C-4A8D-A069-0553D5A1AE87}" type="datetime1">
              <a:rPr lang="ru-RU" smtClean="0"/>
              <a:t>29.09.2026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5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4626E530-5F88-4249-8C7D-F2752404CA87}" type="datetime1">
              <a:rPr lang="ru-RU" smtClean="0"/>
              <a:t>29.09.2026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9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14D82CF-195D-4161-91C3-BF3BD77F02B1}" type="datetime1">
              <a:rPr lang="ru-RU" smtClean="0"/>
              <a:t>29.09.2026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4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E79D92-88A3-4669-9E63-839B8296D48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4" y="67758"/>
            <a:ext cx="2749647" cy="9165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EABB7A2-1959-4223-A9A5-D2D0194D29E5}" type="datetime1">
              <a:rPr lang="ru-RU" smtClean="0"/>
              <a:t>29.09.2026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47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E105180-9459-4618-A9B5-823661CB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7058"/>
            <a:ext cx="10515600" cy="1928812"/>
          </a:xfrm>
        </p:spPr>
        <p:txBody>
          <a:bodyPr>
            <a:normAutofit/>
          </a:bodyPr>
          <a:lstStyle/>
          <a:p>
            <a:r>
              <a:rPr lang="ru-RU" sz="3600" dirty="0"/>
              <a:t>ВЫПУСКНАЯ КВАЛИФИКАЦИОННАЯ РАБОТА  </a:t>
            </a:r>
            <a:br>
              <a:rPr lang="ru-RU" dirty="0"/>
            </a:br>
            <a:r>
              <a:rPr lang="ru-RU" sz="2200" dirty="0"/>
              <a:t>на тему: «Разработка методики оценки влияния программы реновации жилищного фонда на лесные территории г. Москвы»</a:t>
            </a:r>
            <a:endParaRPr lang="ru-RU" sz="4000" dirty="0"/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7C975E68-0A5B-4C40-8370-5A2ABEF71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7751"/>
            <a:ext cx="9144000" cy="2466397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Научный руководитель: </a:t>
            </a:r>
          </a:p>
          <a:p>
            <a:pPr>
              <a:lnSpc>
                <a:spcPct val="120000"/>
              </a:lnSpc>
            </a:pPr>
            <a:r>
              <a:rPr lang="ru-RU" dirty="0"/>
              <a:t>преподаватель кафедры информатики и геоинформационных технологий</a:t>
            </a:r>
          </a:p>
          <a:p>
            <a:r>
              <a:rPr lang="ru-RU" dirty="0"/>
              <a:t>Орлов Павел Юрьевич</a:t>
            </a:r>
          </a:p>
          <a:p>
            <a:endParaRPr lang="ru-RU" dirty="0"/>
          </a:p>
          <a:p>
            <a:r>
              <a:rPr lang="ru-RU" dirty="0"/>
              <a:t>Выполнил студент 2025-ФГиИБ-ПИ-1м</a:t>
            </a:r>
          </a:p>
          <a:p>
            <a:r>
              <a:rPr lang="ru-RU" dirty="0"/>
              <a:t>Коротеев Владислав Николаевич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F3BAF-0709-21D9-C7B6-9203C150535C}"/>
              </a:ext>
            </a:extLst>
          </p:cNvPr>
          <p:cNvSpPr txBox="1"/>
          <p:nvPr/>
        </p:nvSpPr>
        <p:spPr>
          <a:xfrm>
            <a:off x="2937752" y="63851"/>
            <a:ext cx="7850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МИНИСТЕРСТВО НАУКИ И ВЫСШЕГО ОБРАЗОВАНИЯ РОССИЙСКОЙ ФЕДЕРАЦИИ  </a:t>
            </a:r>
          </a:p>
          <a:p>
            <a:pPr algn="ctr"/>
            <a:r>
              <a:rPr lang="ru-RU" dirty="0"/>
              <a:t>МОСКОВСКИЙ ГОСУДАРСТВЕННЫЙ УНИВЕРСИТЕТ ГЕОДЕЗИИ И КАРТОГРАФИИ (МИИГАИК)  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Факультет геоинформатики и информационной безопасности </a:t>
            </a:r>
          </a:p>
          <a:p>
            <a:pPr algn="ctr"/>
            <a:r>
              <a:rPr lang="ru-RU" dirty="0"/>
              <a:t>Кафедра прикладной информатики</a:t>
            </a:r>
          </a:p>
        </p:txBody>
      </p:sp>
    </p:spTree>
    <p:extLst>
      <p:ext uri="{BB962C8B-B14F-4D97-AF65-F5344CB8AC3E}">
        <p14:creationId xmlns:p14="http://schemas.microsoft.com/office/powerpoint/2010/main" val="127073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AFCAA-1E64-1F5E-7D2B-FF3BB424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924" y="151056"/>
            <a:ext cx="6035351" cy="701188"/>
          </a:xfrm>
        </p:spPr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EBABE2-9A82-BA70-7BD0-58D1113E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1" y="1175657"/>
            <a:ext cx="6828454" cy="518069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ru-RU" sz="2000" dirty="0"/>
              <a:t>Реализация программы реновации затрагивает лесные территории Москвы, и её последствия для зелёного фонда требуют систематической, количественной и воспроизводимой оценки — как на этапе проектирования объектов, так и при последующем контроле.</a:t>
            </a:r>
          </a:p>
          <a:p>
            <a:pPr algn="just">
              <a:lnSpc>
                <a:spcPct val="150000"/>
              </a:lnSpc>
            </a:pPr>
            <a:r>
              <a:rPr lang="ru-RU" sz="2000" dirty="0"/>
              <a:t>Единый программный инструмент позволяет проводить такую оценку быстро, объективно и сопоставимо между разными объектами реновации — что особенно важно при большом числе проектов в разных районах города.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3FB331-553C-572C-7C1E-4B625E74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2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Дистанционное зондирование земли (ДЗЗ) - Геоджет-Групп">
            <a:extLst>
              <a:ext uri="{FF2B5EF4-FFF2-40B4-BE49-F238E27FC236}">
                <a16:creationId xmlns:a16="http://schemas.microsoft.com/office/drawing/2014/main" id="{7803ADF2-891E-FE4B-77C6-A279FFE03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968" y="1175657"/>
            <a:ext cx="3892879" cy="26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Feeding AI and Neural Networks with Information | Digital Scholarship">
            <a:extLst>
              <a:ext uri="{FF2B5EF4-FFF2-40B4-BE49-F238E27FC236}">
                <a16:creationId xmlns:a16="http://schemas.microsoft.com/office/drawing/2014/main" id="{F6030ABF-EE28-43B6-629D-963AE1A32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61" y="3743125"/>
            <a:ext cx="3634021" cy="31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65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CE37FA-4A19-A585-9650-7A916DF6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688" y="244408"/>
            <a:ext cx="3845841" cy="641766"/>
          </a:xfrm>
        </p:spPr>
        <p:txBody>
          <a:bodyPr>
            <a:normAutofit fontScale="90000"/>
          </a:bodyPr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194B6-CAA5-F1E7-7057-2C8884B2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5" y="1304103"/>
            <a:ext cx="5982512" cy="22270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b="1" dirty="0"/>
              <a:t>Цель: </a:t>
            </a:r>
          </a:p>
          <a:p>
            <a:pPr marL="0" lvl="1" indent="457200">
              <a:lnSpc>
                <a:spcPct val="100000"/>
              </a:lnSpc>
            </a:pPr>
            <a:r>
              <a:rPr lang="ru-RU" dirty="0"/>
              <a:t>Разработка методики оценки влияния программы реновации жилищного фонда на лесные территории г. Москвы, реализованной в виде плагина для QGIS.</a:t>
            </a:r>
          </a:p>
          <a:p>
            <a:pPr lvl="1">
              <a:lnSpc>
                <a:spcPct val="100000"/>
              </a:lnSpc>
            </a:pPr>
            <a:endParaRPr lang="ru-RU" dirty="0"/>
          </a:p>
          <a:p>
            <a:pPr lvl="1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7FCEED-BFF0-F7CB-6639-55875A6A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3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41173-6F12-E99B-D286-387898AB0F24}"/>
              </a:ext>
            </a:extLst>
          </p:cNvPr>
          <p:cNvSpPr txBox="1"/>
          <p:nvPr/>
        </p:nvSpPr>
        <p:spPr>
          <a:xfrm>
            <a:off x="6324907" y="1304103"/>
            <a:ext cx="57166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1" dirty="0"/>
              <a:t>Задачи:      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Проанализировать аналоги и нормативную базу (методика №897-ПП)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Сформировать требования к системе (SRS)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Спроектировать архитектуру плагина и структуру БД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Реализовать модуль пространственного анализа (пересечения, буферные зоны)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Реализовать модуль временного анализа и прогнозирования по снимкам</a:t>
            </a:r>
          </a:p>
          <a:p>
            <a:pPr marL="0" lvl="1" indent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Протестировать инструмент и оценить эффективность методики</a:t>
            </a:r>
          </a:p>
        </p:txBody>
      </p:sp>
      <p:pic>
        <p:nvPicPr>
          <p:cNvPr id="2050" name="Picture 2" descr="Услуги Terra Exploration">
            <a:extLst>
              <a:ext uri="{FF2B5EF4-FFF2-40B4-BE49-F238E27FC236}">
                <a16:creationId xmlns:a16="http://schemas.microsoft.com/office/drawing/2014/main" id="{37B59A4B-8AFA-0753-8D3A-746A179B8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026694"/>
            <a:ext cx="6096000" cy="28313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23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CE37FA-4A19-A585-9650-7A916DF6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291" y="159179"/>
            <a:ext cx="5982789" cy="819651"/>
          </a:xfrm>
        </p:spPr>
        <p:txBody>
          <a:bodyPr>
            <a:normAutofit/>
          </a:bodyPr>
          <a:lstStyle/>
          <a:p>
            <a:r>
              <a:rPr lang="ru-RU" sz="4000" dirty="0"/>
              <a:t>Требования к системе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194B6-CAA5-F1E7-7057-2C8884B2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45" y="1251624"/>
            <a:ext cx="5939246" cy="475052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200" b="1" dirty="0"/>
              <a:t>Функциональные требования:</a:t>
            </a:r>
            <a:endParaRPr lang="ru-RU" sz="2200" dirty="0"/>
          </a:p>
          <a:p>
            <a:pPr marL="0" lvl="1" indent="457200">
              <a:lnSpc>
                <a:spcPct val="120000"/>
              </a:lnSpc>
            </a:pPr>
            <a:r>
              <a:rPr lang="ru-RU" sz="1800" dirty="0"/>
              <a:t>Импорт слоёв объектов реновации и лесных территорий</a:t>
            </a:r>
          </a:p>
          <a:p>
            <a:pPr marL="0" lvl="1" indent="457200">
              <a:lnSpc>
                <a:spcPct val="120000"/>
              </a:lnSpc>
            </a:pPr>
            <a:r>
              <a:rPr lang="ru-RU" sz="1800" dirty="0"/>
              <a:t>Построение буферных зон и анализ пересечения с лесом</a:t>
            </a:r>
          </a:p>
          <a:p>
            <a:pPr marL="0" lvl="1" indent="457200">
              <a:lnSpc>
                <a:spcPct val="120000"/>
              </a:lnSpc>
            </a:pPr>
            <a:r>
              <a:rPr lang="ru-RU" sz="1800" dirty="0"/>
              <a:t>Расчёт площади и категории воздействия</a:t>
            </a:r>
          </a:p>
          <a:p>
            <a:pPr marL="0" lvl="1" indent="457200">
              <a:lnSpc>
                <a:spcPct val="120000"/>
              </a:lnSpc>
            </a:pPr>
            <a:r>
              <a:rPr lang="ru-RU" sz="1800" dirty="0"/>
              <a:t>Загрузка архивных снимков и расчёт NDVI</a:t>
            </a:r>
          </a:p>
          <a:p>
            <a:pPr marL="0" lvl="1" indent="457200">
              <a:lnSpc>
                <a:spcPct val="120000"/>
              </a:lnSpc>
            </a:pPr>
            <a:r>
              <a:rPr lang="ru-RU" sz="1800" dirty="0"/>
              <a:t>Построение прогноза динамики лесного покрова</a:t>
            </a:r>
          </a:p>
          <a:p>
            <a:pPr marL="0" lvl="1" indent="457200">
              <a:lnSpc>
                <a:spcPct val="120000"/>
              </a:lnSpc>
            </a:pPr>
            <a:r>
              <a:rPr lang="ru-RU" sz="1800" dirty="0"/>
              <a:t>Визуализация на карте и экспорт отчёта (PDF/CSV)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9649812-C620-38AE-B443-900D1389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4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A7D194B6-CAA5-F1E7-7057-2C8884B2FE97}"/>
              </a:ext>
            </a:extLst>
          </p:cNvPr>
          <p:cNvSpPr txBox="1">
            <a:spLocks/>
          </p:cNvSpPr>
          <p:nvPr/>
        </p:nvSpPr>
        <p:spPr>
          <a:xfrm>
            <a:off x="6237096" y="1251624"/>
            <a:ext cx="5683177" cy="2792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200" b="1" dirty="0"/>
              <a:t>Нефункциональные требования:</a:t>
            </a:r>
            <a:endParaRPr lang="ru-RU" sz="2200" dirty="0"/>
          </a:p>
          <a:p>
            <a:pPr marL="87313" lvl="1" indent="369888">
              <a:lnSpc>
                <a:spcPct val="120000"/>
              </a:lnSpc>
            </a:pPr>
            <a:r>
              <a:rPr lang="ru-RU" sz="1800" dirty="0"/>
              <a:t>Производительность: анализ типового объекта — не более нескольких минут</a:t>
            </a:r>
          </a:p>
          <a:p>
            <a:pPr marL="87313" lvl="1" indent="369888">
              <a:lnSpc>
                <a:spcPct val="120000"/>
              </a:lnSpc>
            </a:pPr>
            <a:r>
              <a:rPr lang="ru-RU" sz="1800" dirty="0"/>
              <a:t>Надёжность и корректная обработка ошибок входных данных</a:t>
            </a:r>
          </a:p>
          <a:p>
            <a:pPr marL="87313" lvl="1" indent="369888">
              <a:lnSpc>
                <a:spcPct val="120000"/>
              </a:lnSpc>
            </a:pPr>
            <a:r>
              <a:rPr lang="ru-RU" sz="1800" dirty="0"/>
              <a:t>Совместимость с актуальной LTR-версией QGIS</a:t>
            </a:r>
          </a:p>
          <a:p>
            <a:pPr marL="87313" lvl="1" indent="369888">
              <a:lnSpc>
                <a:spcPct val="120000"/>
              </a:lnSpc>
            </a:pPr>
            <a:r>
              <a:rPr lang="ru-RU" sz="1800" dirty="0"/>
              <a:t>Удобство использования: русскоязычный интерфейс</a:t>
            </a:r>
          </a:p>
          <a:p>
            <a:pPr marL="87313" lvl="1" indent="369888">
              <a:lnSpc>
                <a:spcPct val="120000"/>
              </a:lnSpc>
            </a:pPr>
            <a:r>
              <a:rPr lang="ru-RU" sz="1800" dirty="0"/>
              <a:t>Масштабируемость на новые объекты программы реновации</a:t>
            </a:r>
          </a:p>
        </p:txBody>
      </p:sp>
      <p:pic>
        <p:nvPicPr>
          <p:cNvPr id="3076" name="Picture 4" descr="Deep learning - Free networking icons">
            <a:extLst>
              <a:ext uri="{FF2B5EF4-FFF2-40B4-BE49-F238E27FC236}">
                <a16:creationId xmlns:a16="http://schemas.microsoft.com/office/drawing/2014/main" id="{3BE2DC14-9616-A489-3B2A-B179A8447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000" y="5450000"/>
            <a:ext cx="1400000" cy="1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26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3E9FC7B-7801-638C-98CC-AB4D503B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059" y="201907"/>
            <a:ext cx="5518941" cy="599486"/>
          </a:xfrm>
        </p:spPr>
        <p:txBody>
          <a:bodyPr>
            <a:normAutofit fontScale="90000"/>
          </a:bodyPr>
          <a:lstStyle/>
          <a:p>
            <a:r>
              <a:rPr lang="ru-RU" dirty="0"/>
              <a:t>Сравнение аналогов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257108F-9E58-75B5-B9F7-EFFE64D66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43267"/>
              </p:ext>
            </p:extLst>
          </p:nvPr>
        </p:nvGraphicFramePr>
        <p:xfrm>
          <a:off x="0" y="967704"/>
          <a:ext cx="12192000" cy="322834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86665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5854018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135959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79006974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Критерий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QGIS-плагины (EAS, URGREECS, QGYF)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i-Tree Canopy /
Методика №897-ПП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Наш инструмент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Пересечение объекта реновации и леса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–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–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Анализ временной динамики (NDVI)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+ (только EAS)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–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Прогнозная оценка воздействия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–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–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Привязка к конкретному объекту программы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–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+ (только 897-ПП, постфактум)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Русская локализация и привязка к Москве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–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149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Денежная оценка ущерба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–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effectLst/>
                        </a:rPr>
                        <a:t>– (вне области методики)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72BEBB-D7E3-5AFA-6562-8DCA0B07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5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4381A-59FA-AF1D-7949-3555BC8414A8}"/>
              </a:ext>
            </a:extLst>
          </p:cNvPr>
          <p:cNvSpPr txBox="1"/>
          <p:nvPr/>
        </p:nvSpPr>
        <p:spPr>
          <a:xfrm>
            <a:off x="0" y="635635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Таблица 1 – Сравнение функциональных возможностей систем-аналогов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5312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3E9FC7B-7801-638C-98CC-AB4D503B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059" y="201907"/>
            <a:ext cx="5518941" cy="599486"/>
          </a:xfrm>
        </p:spPr>
        <p:txBody>
          <a:bodyPr>
            <a:normAutofit fontScale="90000"/>
          </a:bodyPr>
          <a:lstStyle/>
          <a:p>
            <a:r>
              <a:rPr lang="ru-RU" dirty="0"/>
              <a:t>Технологии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257108F-9E58-75B5-B9F7-EFFE64D66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43267"/>
              </p:ext>
            </p:extLst>
          </p:nvPr>
        </p:nvGraphicFramePr>
        <p:xfrm>
          <a:off x="0" y="967704"/>
          <a:ext cx="12100000" cy="41400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Компонент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Технология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Среда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QGIS + PyQGIS, Processing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Работа с пространственными данными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GDAL/OGR, GeoPandas, Shapely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Спутниковые снимки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Google Earth Engine, Sentinel-2 (Copernicus)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Анализ временных рядов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NDVI, change detection, экстраполяция тренда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Хранение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GeoPackage / PostgreSQL + PostGIS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Визуализация и отчётность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QGIS Print Layout, matplotlib, экспорт PDF/CSV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72BEBB-D7E3-5AFA-6562-8DCA0B07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6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4381A-59FA-AF1D-7949-3555BC8414A8}"/>
              </a:ext>
            </a:extLst>
          </p:cNvPr>
          <p:cNvSpPr txBox="1"/>
          <p:nvPr/>
        </p:nvSpPr>
        <p:spPr>
          <a:xfrm>
            <a:off x="0" y="635635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Таблица 2 – Технологический стек проекта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5312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726" y="136525"/>
            <a:ext cx="5785274" cy="625336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системы</a:t>
            </a:r>
            <a:endParaRPr lang="ru-RU" b="1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CFDB4589-18AB-9F7E-5A15-59CA02C51B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687" y="1384344"/>
            <a:ext cx="6066077" cy="45254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481866-E8D7-A3CB-0998-56372F3A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7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73686" y="6538912"/>
            <a:ext cx="6066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3 – Диаграмма вариантов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2461544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338FEC-48D9-FA2D-6D8B-7FE2D4F3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15" y="917740"/>
            <a:ext cx="10552093" cy="540802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408" y="136525"/>
            <a:ext cx="5772592" cy="629913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35559B6-93F9-1303-899B-6F7B3844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4154" y="6356350"/>
            <a:ext cx="2743200" cy="365125"/>
          </a:xfrm>
        </p:spPr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8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4646" y="6491694"/>
            <a:ext cx="105520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5 – Диаграмма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12567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195" y="163961"/>
            <a:ext cx="6291805" cy="630517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7EC4BD-39AF-F507-FF3D-E1918DD2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24" y="794477"/>
            <a:ext cx="8376740" cy="5669537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2E4502-8D07-697A-A320-E89B23F0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9</a:t>
            </a:fld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17812" y="6417040"/>
            <a:ext cx="930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6 – </a:t>
            </a:r>
            <a:r>
              <a:rPr lang="en-US" sz="1200" dirty="0"/>
              <a:t>ER-</a:t>
            </a:r>
            <a:r>
              <a:rPr lang="ru-RU" sz="1200" dirty="0"/>
              <a:t>диаграмма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069502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CCC80-27B6-3998-EC3E-F0D4B08F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244" y="136525"/>
            <a:ext cx="6699756" cy="61523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Прототип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86C776-F621-8157-98D2-A52AF14B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C3AAE3C-BEF4-D8B8-D9F0-EAB939B5E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785" y="864358"/>
            <a:ext cx="7074430" cy="5491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988379-660B-D48F-83F5-40A947DE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10</a:t>
            </a:fld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3553" y="6400413"/>
            <a:ext cx="8724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Рисунок 7 – Каркасная модель экрана «Новый анализ»</a:t>
            </a:r>
          </a:p>
        </p:txBody>
      </p:sp>
    </p:spTree>
    <p:extLst>
      <p:ext uri="{BB962C8B-B14F-4D97-AF65-F5344CB8AC3E}">
        <p14:creationId xmlns:p14="http://schemas.microsoft.com/office/powerpoint/2010/main" val="4029662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Объект 9" descr="Изображение выглядит как текст, снимок экрана, программное обеспечение, веб-страница&#10;&#10;Автоматически созданное описание">
            <a:extLst>
              <a:ext uri="{FF2B5EF4-FFF2-40B4-BE49-F238E27FC236}">
                <a16:creationId xmlns:a16="http://schemas.microsoft.com/office/drawing/2014/main" id="{EA09600A-5599-6D5F-AC39-8B404DD94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556" y="894531"/>
            <a:ext cx="5811649" cy="5826943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55" y="136525"/>
            <a:ext cx="6564945" cy="36318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 работы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F0EA0CB-026A-4484-5B7C-DCA9AACC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11</a:t>
            </a:fld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911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476" y="260741"/>
            <a:ext cx="6816524" cy="889099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Календарный план и риски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DA4C94-DD33-B287-F484-8D383AE45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643" y="1686584"/>
            <a:ext cx="6459166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Проект — 5 этапов, 154 дня: анализ → проектирование → разработка → тестирование → документирование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Наибольшая длительность (21 день) — модуль временного анализа и прогнозирования, как самый сложный компонент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Ключевые риски: неполнота открытых данных об объектах реновации (R1), нехватка безоблачных снимков (R2), низкая точность прогноза (R3) — все критические, стратегия реагирования — снижение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Веха «Готовность инструмента» — 27.01.2027, защита — 03.03.2027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F32554-263C-4D91-6A71-8B889298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12</a:t>
            </a:fld>
            <a:endParaRPr lang="ru-RU" b="1" dirty="0">
              <a:solidFill>
                <a:schemeClr val="tx1"/>
              </a:solidFill>
            </a:endParaRPr>
          </a:p>
        </p:txBody>
      </p:sp>
      <p:pic>
        <p:nvPicPr>
          <p:cNvPr id="6146" name="Picture 2" descr="Спутники ДЗЗ продолжают мониторинг чрезвычайных ситуаций — AviaStat">
            <a:extLst>
              <a:ext uri="{FF2B5EF4-FFF2-40B4-BE49-F238E27FC236}">
                <a16:creationId xmlns:a16="http://schemas.microsoft.com/office/drawing/2014/main" id="{2BE70FD0-D96F-C681-6897-1B2921E75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18109"/>
            <a:ext cx="5715000" cy="32099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402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3E9FC7B-7801-638C-98CC-AB4D503B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059" y="201907"/>
            <a:ext cx="5518941" cy="599486"/>
          </a:xfrm>
        </p:spPr>
        <p:txBody>
          <a:bodyPr>
            <a:normAutofit fontScale="90000"/>
          </a:bodyPr>
          <a:lstStyle/>
          <a:p>
            <a:r>
              <a:rPr lang="ru-RU" dirty="0"/>
              <a:t>Результаты тестирования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257108F-9E58-75B5-B9F7-EFFE64D66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43267"/>
              </p:ext>
            </p:extLst>
          </p:nvPr>
        </p:nvGraphicFramePr>
        <p:xfrm>
          <a:off x="0" y="967704"/>
          <a:ext cx="12192000" cy="30500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86665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5854018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135959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79006974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Приоритет требований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Кол-во требований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Покрытие тест-кейсами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Статус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Критический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6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100%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Покрыто полностью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Высокий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13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100%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Покрыто полностью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Средний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8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50% (4/8)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Частично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Низкий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4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0% (0/4)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Запланировано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Итого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31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74% (23/31)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Критерий выхода выполнен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72BEBB-D7E3-5AFA-6562-8DCA0B07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13</a:t>
            </a:fld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4381A-59FA-AF1D-7949-3555BC8414A8}"/>
              </a:ext>
            </a:extLst>
          </p:cNvPr>
          <p:cNvSpPr txBox="1"/>
          <p:nvPr/>
        </p:nvSpPr>
        <p:spPr>
          <a:xfrm>
            <a:off x="0" y="635635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Таблица 3 – Покрытие требований тест-кейсами (RTM, Задание №9)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53129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790" y="162046"/>
            <a:ext cx="3668210" cy="1027995"/>
          </a:xfrm>
        </p:spPr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DA4C94-DD33-B287-F484-8D383AE45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407163"/>
            <a:ext cx="10864174" cy="4732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200" dirty="0"/>
              <a:t>В ходе работы были решены следующие задачи:</a:t>
            </a:r>
          </a:p>
          <a:p>
            <a:pPr lvl="1" algn="just">
              <a:lnSpc>
                <a:spcPct val="100000"/>
              </a:lnSpc>
            </a:pPr>
            <a:r>
              <a:rPr lang="ru-RU" sz="2000" dirty="0"/>
              <a:t>Проведён анализ аналогов и обоснована актуальность методики</a:t>
            </a:r>
          </a:p>
          <a:p>
            <a:pPr lvl="1" algn="just">
              <a:lnSpc>
                <a:spcPct val="100000"/>
              </a:lnSpc>
            </a:pPr>
            <a:r>
              <a:rPr lang="ru-RU" sz="2000" dirty="0"/>
              <a:t>Сформированы требования к системе (13 ФТ, 18 НФТ)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Спроектирована архитектура QGIS-плагина и структура БД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Разработаны прототипы интерфейса и проведено тестирование (покрытие критических требований — 100%)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200" dirty="0"/>
              <a:t>Цель работы достигнута: разработана и спроектирована методика оценки воздействия программы реновации на лесные территории, реализуемая как плагин для QGIS. Дальнейшее развитие — апробация на реальных объектах программы, подключение дополнительных источников снимков и расширение прогнозной модели.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1693462-8376-32C1-F692-11FC6421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14</a:t>
            </a:fld>
            <a:endParaRPr lang="ru-RU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40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5885B3-B3DE-4564-BDC7-0F959A3F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238" y="1076445"/>
            <a:ext cx="10075762" cy="962748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B96349-E9DD-295F-353C-F8DEA5C9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z="1400" b="1" smtClean="0">
                <a:solidFill>
                  <a:schemeClr val="tx1"/>
                </a:solidFill>
              </a:rPr>
              <a:t>15</a:t>
            </a:fld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806438"/>
      </p:ext>
    </p:extLst>
  </p:cSld>
  <p:clrMapOvr>
    <a:masterClrMapping/>
  </p:clrMapOvr>
</p:sld>
</file>

<file path=ppt/theme/theme1.xml><?xml version="1.0" encoding="utf-8"?>
<a:theme xmlns:a="http://schemas.openxmlformats.org/drawingml/2006/main" name="Горы днём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2.xml><?xml version="1.0" encoding="utf-8"?>
<a:theme xmlns:a="http://schemas.openxmlformats.org/drawingml/2006/main" name="Горы резко обрываются равниной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3.xml><?xml version="1.0" encoding="utf-8"?>
<a:theme xmlns:a="http://schemas.openxmlformats.org/drawingml/2006/main" name="Лазерная гравировка по стали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EB60DE6F-028E-4872-82DB-DADC663CBDD8}"/>
    </a:ext>
  </a:extLst>
</a:theme>
</file>

<file path=ppt/theme/theme4.xml><?xml version="1.0" encoding="utf-8"?>
<a:theme xmlns:a="http://schemas.openxmlformats.org/drawingml/2006/main" name="Горы плавно переходят в равнину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5.xml><?xml version="1.0" encoding="utf-8"?>
<a:theme xmlns:a="http://schemas.openxmlformats.org/drawingml/2006/main" name="Формул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6.xml><?xml version="1.0" encoding="utf-8"?>
<a:theme xmlns:a="http://schemas.openxmlformats.org/drawingml/2006/main" name="Горы ночью">
  <a:themeElements>
    <a:clrScheme name="Ночной МИИГАиК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C38CD02F-1156-4645-B207-AB6B5FD4AB33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</TotalTime>
  <Words>731</Words>
  <Application>Microsoft Macintosh PowerPoint</Application>
  <PresentationFormat>Широкоэкранный</PresentationFormat>
  <Paragraphs>148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Montserrat</vt:lpstr>
      <vt:lpstr>Arial</vt:lpstr>
      <vt:lpstr>Aptos</vt:lpstr>
      <vt:lpstr>Горы днём</vt:lpstr>
      <vt:lpstr>Горы резко обрываются равниной</vt:lpstr>
      <vt:lpstr>Лазерная гравировка по стали</vt:lpstr>
      <vt:lpstr>Горы плавно переходят в равнину</vt:lpstr>
      <vt:lpstr>Формула</vt:lpstr>
      <vt:lpstr>Горы ночью</vt:lpstr>
      <vt:lpstr>ВЫПУСКНАЯ КВАЛИФИКАЦИОННАЯ РАБОТА   на тему: «Разработка методики оценки влияния программы реновации жилищного фонда на лесные территории г. Москвы»</vt:lpstr>
      <vt:lpstr>Актуальность темы</vt:lpstr>
      <vt:lpstr>Цель и задачи</vt:lpstr>
      <vt:lpstr>Требования к системе</vt:lpstr>
      <vt:lpstr>Сравнение аналогов</vt:lpstr>
      <vt:lpstr>Технологии</vt:lpstr>
      <vt:lpstr>Архитектура системы</vt:lpstr>
      <vt:lpstr>Архитектура системы</vt:lpstr>
      <vt:lpstr>Структура базы данных</vt:lpstr>
      <vt:lpstr>Прототип интерфейса</vt:lpstr>
      <vt:lpstr>Пример работы системы</vt:lpstr>
      <vt:lpstr>Календарный план и риски</vt:lpstr>
      <vt:lpstr>Результаты тестирования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Роман Жуков</dc:creator>
  <cp:lastModifiedBy>Владислав Коротеев</cp:lastModifiedBy>
  <cp:revision>31</cp:revision>
  <dcterms:created xsi:type="dcterms:W3CDTF">2025-04-17T10:00:13Z</dcterms:created>
  <dcterms:modified xsi:type="dcterms:W3CDTF">2026-09-29T12:32:47Z</dcterms:modified>
</cp:coreProperties>
</file>